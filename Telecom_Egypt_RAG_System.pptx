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score</c:v>
                </c:pt>
              </c:strCache>
            </c:strRef>
          </c:tx>
          <c:spPr>
            <a:solidFill>
              <a:srgbClr val="6A3FA0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12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Balance
inquiry</c:v>
                </c:pt>
                <c:pt idx="1">
                  <c:v>Bill
limit</c:v>
                </c:pt>
                <c:pt idx="2">
                  <c:v>Bill
payment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0.82399999999999995</c:v>
                </c:pt>
                <c:pt idx="1">
                  <c:v>0.81720000000000004</c:v>
                </c:pt>
                <c:pt idx="2">
                  <c:v>0.79090000000000005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D-4033-8D8C-8A7B2E587C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7D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77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6A3FA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9B7FC7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6A3FA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Egypt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Assistant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Chatbot for Multilingual Customer Support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D6A5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Ahmed Abdel Meguid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Can't Keep Up With Demand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3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95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daily inquiries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7157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Egypt receives high volumes of customer questions every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630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responses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9502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Human-only handling can't scale, causing delays and inconsistent answers.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864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coverage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51846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support outside business hours, every day of the week.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REQUIREMENTS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33172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2551176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12280" y="23317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queries using official website content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118104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46520" y="3337560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80" y="311810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Arabic, English, and Egyptian dialect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90448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6520" y="4123944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390448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customer document uploads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690872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4910328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12280" y="469087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source citations for every answer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547725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46520" y="5696712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12280" y="547725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professional chat interface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RAG Assistant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42032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07208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07208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65776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59168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24344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24344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17736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82912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82912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703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Support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050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English, and Egyptian dialect, handled natively.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520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374904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3703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86600" y="4050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TXT, and HTML added straight to the knowledge base.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5166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463040" y="55138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traces back to its exact source passage.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983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0" y="521208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86600" y="5166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Ready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086600" y="55138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for local, offline-capable deployment.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interface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2542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Context → Generate → Citations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1880" y="35935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224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with E5 embeddings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46451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2760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scraper + document upload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331C4D"/>
          </a:solidFill>
          <a:ln w="12700">
            <a:solidFill>
              <a:srgbClr val="9B7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59736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28432" y="23042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0" y="3026664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28432" y="287121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(E5 model)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593592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28432" y="34381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0" y="4160520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28432" y="4005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(GPT-4o-mini)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4727448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28432" y="4572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0" y="5294376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28432" y="5138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Comes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2651760" cy="393192"/>
          </a:xfrm>
          <a:prstGeom prst="rect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te.eg → convert to Markdown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into 500-token segments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docs follow the same pipeline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1568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01568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01568" y="2121408"/>
            <a:ext cx="2651760" cy="393192"/>
          </a:xfrm>
          <a:prstGeom prst="rect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84448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84448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84448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85616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intfloat/multilingual-e5-base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84448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85616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768-dimensional vectors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84448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85616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for retrieval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54496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54496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54496" y="2121408"/>
            <a:ext cx="2651760" cy="393192"/>
          </a:xfrm>
          <a:prstGeom prst="rect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37376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37376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7376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38544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chunks retrieved per query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37376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38544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scores displayed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37376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38544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tracking for citations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07424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107424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07424" y="2121408"/>
            <a:ext cx="2651760" cy="393192"/>
          </a:xfrm>
          <a:prstGeom prst="rect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290304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290304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290304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491472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accuracy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90304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491472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extracted from response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90304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491472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 language detection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23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chunk tagged [1], [2], [3]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31927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references sources directly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66674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+ relevance score shown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8536" y="169164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23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17136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1713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17136" y="25328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7136" y="297180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PDF, DOCX, TXT, 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7136" y="331927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chunking &amp; embedding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7136" y="366674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Added to knowledge base instantly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28432" y="169164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23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57032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5703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57032" y="25328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Support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57032" y="297180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Arabic queries → Arabic answers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57032" y="331927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English queries → English answers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57032" y="366674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Egyptian dialect handled natively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D6A5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434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736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يمكنني دفع الفاتورة؟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5257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retrieved from an uploaded document (sample.txt), with the source correctly cited.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23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27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68796" y="17830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embeddings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68796" y="2331720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multilingual model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91672" cy="658368"/>
          </a:xfrm>
          <a:prstGeom prst="rect">
            <a:avLst/>
          </a:prstGeom>
          <a:solidFill>
            <a:srgbClr val="E7D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990088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68796" y="2990088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 + extraction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648456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formats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68796" y="3648456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loaders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91672" cy="658368"/>
          </a:xfrm>
          <a:prstGeom prst="rect">
            <a:avLst/>
          </a:prstGeom>
          <a:solidFill>
            <a:srgbClr val="E7D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306824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dialect handling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68796" y="4306824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prompt engineering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65192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965192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performance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68796" y="4965192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with cosine similarity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7D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623560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reliability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68796" y="5623560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with fallback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4476" y="1783080"/>
            <a:ext cx="0" cy="4498848"/>
          </a:xfrm>
          <a:prstGeom prst="line">
            <a:avLst/>
          </a:prstGeom>
          <a:noFill/>
          <a:ln w="19050">
            <a:solidFill>
              <a:srgbClr val="F9F6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RELEVANCE SCORES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57607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SUPPORT &amp; ACCURACY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83680" y="2103120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22592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queries supported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523744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22592" y="2496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queries supported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2944368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22592" y="2916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dialect supported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3364992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22592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 queries supported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3785616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8368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22592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sources identified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583680" y="4206240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8368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22592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scores displayed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83680" y="4626864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8368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022592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previews shown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· Local vector database · Offline-capable · Persistent storage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90088" y="1965960"/>
            <a:ext cx="28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33288" y="1965960"/>
            <a:ext cx="28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76488" y="1965960"/>
            <a:ext cx="28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782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D6A5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782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331C4D"/>
          </a:solidFill>
          <a:ln w="12700">
            <a:solidFill>
              <a:srgbClr val="9B7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OPENROUTER_API_KEY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306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HF_TOKEN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51755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model downloads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32004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331C4D"/>
          </a:solidFill>
          <a:ln w="12700">
            <a:solidFill>
              <a:srgbClr val="9B7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19672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19672" y="3977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./chroma_db/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42702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9672" y="4663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./embeddings.json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9672" y="4956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9672" y="5349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./data/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5641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577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874520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7373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5577840" cy="566928"/>
          </a:xfrm>
          <a:prstGeom prst="rect">
            <a:avLst/>
          </a:prstGeom>
          <a:solidFill>
            <a:srgbClr val="E7D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304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2441448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3042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5577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8712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09160" y="3008376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28712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5577840" cy="566928"/>
          </a:xfrm>
          <a:prstGeom prst="rect">
            <a:avLst/>
          </a:prstGeom>
          <a:solidFill>
            <a:srgbClr val="E7D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4381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Presentation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575304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34381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05072"/>
            <a:ext cx="5577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005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Files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709160" y="4142232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40050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1371600"/>
            <a:ext cx="5193792" cy="4892040"/>
          </a:xfrm>
          <a:prstGeom prst="roundRect">
            <a:avLst>
              <a:gd name="adj" fmla="val 1495"/>
            </a:avLst>
          </a:prstGeom>
          <a:solidFill>
            <a:srgbClr val="23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2084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SUBMITTED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20840" y="1993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22402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24917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27386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with citations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2990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document_processor.py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32369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20840" y="34884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citation_utils.py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37353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formatting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20840" y="3986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RAG_Implementation.ipynb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42336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20840" y="44851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47320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20840" y="4983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/ docker-compose.yml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52303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54818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20840" y="572871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6A3FA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9B7FC7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3209925"/>
            <a:ext cx="2011680" cy="0"/>
          </a:xfrm>
          <a:prstGeom prst="line">
            <a:avLst/>
          </a:prstGeom>
          <a:noFill/>
          <a:ln w="25400">
            <a:solidFill>
              <a:srgbClr val="9B7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48424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485" y="375856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www.linkedin.com/in/salma-ahmed-370751315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426148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53580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https://github.com/salmaahmed-07/RAD_System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659</Words>
  <Application>Microsoft Office PowerPoint</Application>
  <PresentationFormat>Widescreen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Salma ahmed</cp:lastModifiedBy>
  <cp:revision>2</cp:revision>
  <dcterms:created xsi:type="dcterms:W3CDTF">2026-08-29T12:54:56Z</dcterms:created>
  <dcterms:modified xsi:type="dcterms:W3CDTF">2026-08-29T13:09:44Z</dcterms:modified>
</cp:coreProperties>
</file>