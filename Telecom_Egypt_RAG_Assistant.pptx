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Relevance score</c:v>
                </c:pt>
              </c:strCache>
            </c:strRef>
          </c:tx>
          <c:spPr>
            <a:solidFill>
              <a:srgbClr val="6A3FA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Balance
inquiry</c:v>
                  </c:pt>
                  <c:pt idx="1">
                    <c:v>Bill
limit</c:v>
                  </c:pt>
                  <c:pt idx="2">
                    <c:v>Bill
payment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0.824</c:v>
                </c:pt>
                <c:pt idx="1">
                  <c:v>0.8172</c:v>
                </c:pt>
                <c:pt idx="2">
                  <c:v>0.7909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23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7D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6A3FA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9B7FC7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6A3FA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Egypt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Assistant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RAG-Powered Chatbot for Multilingual Customer Support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D6A5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 Ahmed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 Can't Keep Up With Demand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23123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457200" cy="457200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95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daily inquiries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7157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Egypt receives high volumes of customer questions every day.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657600"/>
            <a:ext cx="457200" cy="457200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630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responses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9502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Human-only handling can't scale, causing delays and inconsistent answers.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892040"/>
            <a:ext cx="457200" cy="457200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864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24/7 coverage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518464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need support outside business hours, every day of the week.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REQUIREMENTS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331720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D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551176"/>
            <a:ext cx="219456" cy="219456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33172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queries using official website content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118104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D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3337560"/>
            <a:ext cx="219456" cy="219456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11810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Arabic, English, and Egyptian dialect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904488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D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4123944"/>
            <a:ext cx="219456" cy="219456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390448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customer document uploads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4690872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D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4910328"/>
            <a:ext cx="219456" cy="219456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4690872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source citations for every answer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5477256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D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5696712"/>
            <a:ext cx="219456" cy="219456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547725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professional chat interface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Intelligent RAG Assistant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6A3FA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542032" y="178308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07208" y="17830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9B7FC7"/>
          </a:solidFill>
          <a:ln/>
        </p:spPr>
      </p:sp>
      <p:sp>
        <p:nvSpPr>
          <p:cNvPr id="8" name="Text 6"/>
          <p:cNvSpPr/>
          <p:nvPr/>
        </p:nvSpPr>
        <p:spPr>
          <a:xfrm>
            <a:off x="2807208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00600" y="178308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65776" y="17830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6A3FA0"/>
          </a:solidFill>
          <a:ln/>
        </p:spPr>
      </p:sp>
      <p:sp>
        <p:nvSpPr>
          <p:cNvPr id="11" name="Text 9"/>
          <p:cNvSpPr/>
          <p:nvPr/>
        </p:nvSpPr>
        <p:spPr>
          <a:xfrm>
            <a:off x="5065776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59168" y="178308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24344" y="17830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9B7FC7"/>
          </a:solidFill>
          <a:ln/>
        </p:spPr>
      </p:sp>
      <p:sp>
        <p:nvSpPr>
          <p:cNvPr id="14" name="Text 12"/>
          <p:cNvSpPr/>
          <p:nvPr/>
        </p:nvSpPr>
        <p:spPr>
          <a:xfrm>
            <a:off x="7324344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17736" y="178308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82912" y="17830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D6A54C"/>
          </a:solidFill>
          <a:ln/>
        </p:spPr>
      </p:sp>
      <p:sp>
        <p:nvSpPr>
          <p:cNvPr id="17" name="Text 15"/>
          <p:cNvSpPr/>
          <p:nvPr/>
        </p:nvSpPr>
        <p:spPr>
          <a:xfrm>
            <a:off x="9582912" y="17830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49040"/>
            <a:ext cx="502920" cy="502920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3703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Support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40507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Arabic, English, and Egyptian dialect, handled natively.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5204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749040"/>
            <a:ext cx="502920" cy="502920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86600" y="3703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86600" y="40507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TXT, and HTML added straight to the knowledge base.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212080"/>
            <a:ext cx="502920" cy="502920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63040" y="5166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463040" y="55138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traces back to its exact source passage.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983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5212080"/>
            <a:ext cx="502920" cy="502920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086600" y="5166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Ready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086600" y="55138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for local, offline-capable deployment.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D6A54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interface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11880" y="2542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6A3FA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1729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Context → Generate → Citations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11880" y="35935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6A3FA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2245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with E5 embeddings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11880" y="46451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6A3FA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2760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scraper + document upload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0" y="1691640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331C4D"/>
          </a:solidFill>
          <a:ln w="12700">
            <a:solidFill>
              <a:srgbClr val="9B7F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59736"/>
            <a:ext cx="109728" cy="109728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22" name="Text 20"/>
          <p:cNvSpPr/>
          <p:nvPr/>
        </p:nvSpPr>
        <p:spPr>
          <a:xfrm>
            <a:off x="8028432" y="23042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0" y="3026664"/>
            <a:ext cx="109728" cy="109728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24" name="Text 22"/>
          <p:cNvSpPr/>
          <p:nvPr/>
        </p:nvSpPr>
        <p:spPr>
          <a:xfrm>
            <a:off x="8028432" y="287121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(E5 model)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593592"/>
            <a:ext cx="109728" cy="109728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26" name="Text 24"/>
          <p:cNvSpPr/>
          <p:nvPr/>
        </p:nvSpPr>
        <p:spPr>
          <a:xfrm>
            <a:off x="8028432" y="34381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72400" y="4160520"/>
            <a:ext cx="109728" cy="109728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28" name="Text 26"/>
          <p:cNvSpPr/>
          <p:nvPr/>
        </p:nvSpPr>
        <p:spPr>
          <a:xfrm>
            <a:off x="8028432" y="40050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(GPT-4o-mini)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4727448"/>
            <a:ext cx="109728" cy="109728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30" name="Text 28"/>
          <p:cNvSpPr/>
          <p:nvPr/>
        </p:nvSpPr>
        <p:spPr>
          <a:xfrm>
            <a:off x="8028432" y="4572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0" y="5294376"/>
            <a:ext cx="109728" cy="109728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32" name="Text 30"/>
          <p:cNvSpPr/>
          <p:nvPr/>
        </p:nvSpPr>
        <p:spPr>
          <a:xfrm>
            <a:off x="8028432" y="5138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Pipeline Comes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6A3FA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21408"/>
            <a:ext cx="2651760" cy="393192"/>
          </a:xfrm>
          <a:prstGeom prst="rect">
            <a:avLst/>
          </a:prstGeom>
          <a:solidFill>
            <a:srgbClr val="6A3FA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82696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1272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te.eg → convert to Markdown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123944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968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into 500-token segments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965192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80974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docs follow the same pipeline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1568" y="173736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737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9B7FC7"/>
          </a:solidFill>
          <a:ln/>
        </p:spPr>
      </p:sp>
      <p:sp>
        <p:nvSpPr>
          <p:cNvPr id="17" name="Shape 15"/>
          <p:cNvSpPr/>
          <p:nvPr/>
        </p:nvSpPr>
        <p:spPr>
          <a:xfrm>
            <a:off x="3401568" y="2121408"/>
            <a:ext cx="2651760" cy="393192"/>
          </a:xfrm>
          <a:prstGeom prst="rect">
            <a:avLst/>
          </a:prstGeom>
          <a:solidFill>
            <a:srgbClr val="9B7FC7"/>
          </a:solidFill>
          <a:ln/>
        </p:spPr>
      </p:sp>
      <p:sp>
        <p:nvSpPr>
          <p:cNvPr id="18" name="Text 16"/>
          <p:cNvSpPr/>
          <p:nvPr/>
        </p:nvSpPr>
        <p:spPr>
          <a:xfrm>
            <a:off x="3584448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584448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84448" y="3282696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</p:sp>
      <p:sp>
        <p:nvSpPr>
          <p:cNvPr id="21" name="Text 19"/>
          <p:cNvSpPr/>
          <p:nvPr/>
        </p:nvSpPr>
        <p:spPr>
          <a:xfrm>
            <a:off x="3785616" y="31272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intfloat/multilingual-e5-base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84448" y="4123944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</p:sp>
      <p:sp>
        <p:nvSpPr>
          <p:cNvPr id="23" name="Text 21"/>
          <p:cNvSpPr/>
          <p:nvPr/>
        </p:nvSpPr>
        <p:spPr>
          <a:xfrm>
            <a:off x="3785616" y="3968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768-dimensional vectors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84448" y="4965192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</p:sp>
      <p:sp>
        <p:nvSpPr>
          <p:cNvPr id="25" name="Text 23"/>
          <p:cNvSpPr/>
          <p:nvPr/>
        </p:nvSpPr>
        <p:spPr>
          <a:xfrm>
            <a:off x="3785616" y="480974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for retrieval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54496" y="173736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1737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6A3FA0"/>
          </a:solidFill>
          <a:ln/>
        </p:spPr>
      </p:sp>
      <p:sp>
        <p:nvSpPr>
          <p:cNvPr id="28" name="Shape 26"/>
          <p:cNvSpPr/>
          <p:nvPr/>
        </p:nvSpPr>
        <p:spPr>
          <a:xfrm>
            <a:off x="6254496" y="2121408"/>
            <a:ext cx="2651760" cy="393192"/>
          </a:xfrm>
          <a:prstGeom prst="rect">
            <a:avLst/>
          </a:prstGeom>
          <a:solidFill>
            <a:srgbClr val="6A3FA0"/>
          </a:solidFill>
          <a:ln/>
        </p:spPr>
      </p:sp>
      <p:sp>
        <p:nvSpPr>
          <p:cNvPr id="29" name="Text 27"/>
          <p:cNvSpPr/>
          <p:nvPr/>
        </p:nvSpPr>
        <p:spPr>
          <a:xfrm>
            <a:off x="6437376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437376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37376" y="3282696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</p:sp>
      <p:sp>
        <p:nvSpPr>
          <p:cNvPr id="32" name="Text 30"/>
          <p:cNvSpPr/>
          <p:nvPr/>
        </p:nvSpPr>
        <p:spPr>
          <a:xfrm>
            <a:off x="6638544" y="31272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chunks retrieved per query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37376" y="4123944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</p:sp>
      <p:sp>
        <p:nvSpPr>
          <p:cNvPr id="34" name="Text 32"/>
          <p:cNvSpPr/>
          <p:nvPr/>
        </p:nvSpPr>
        <p:spPr>
          <a:xfrm>
            <a:off x="6638544" y="3968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scores displayed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37376" y="4965192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</p:sp>
      <p:sp>
        <p:nvSpPr>
          <p:cNvPr id="36" name="Text 34"/>
          <p:cNvSpPr/>
          <p:nvPr/>
        </p:nvSpPr>
        <p:spPr>
          <a:xfrm>
            <a:off x="6638544" y="480974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tracking for citations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07424" y="173736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E7DD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07424" y="1737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9B7FC7"/>
          </a:solidFill>
          <a:ln/>
        </p:spPr>
      </p:sp>
      <p:sp>
        <p:nvSpPr>
          <p:cNvPr id="39" name="Shape 37"/>
          <p:cNvSpPr/>
          <p:nvPr/>
        </p:nvSpPr>
        <p:spPr>
          <a:xfrm>
            <a:off x="9107424" y="2121408"/>
            <a:ext cx="2651760" cy="393192"/>
          </a:xfrm>
          <a:prstGeom prst="rect">
            <a:avLst/>
          </a:prstGeom>
          <a:solidFill>
            <a:srgbClr val="9B7FC7"/>
          </a:solidFill>
          <a:ln/>
        </p:spPr>
      </p:sp>
      <p:sp>
        <p:nvSpPr>
          <p:cNvPr id="40" name="Text 38"/>
          <p:cNvSpPr/>
          <p:nvPr/>
        </p:nvSpPr>
        <p:spPr>
          <a:xfrm>
            <a:off x="9290304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9290304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290304" y="3282696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</p:sp>
      <p:sp>
        <p:nvSpPr>
          <p:cNvPr id="43" name="Text 41"/>
          <p:cNvSpPr/>
          <p:nvPr/>
        </p:nvSpPr>
        <p:spPr>
          <a:xfrm>
            <a:off x="9491472" y="31272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accuracy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290304" y="4123944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</p:sp>
      <p:sp>
        <p:nvSpPr>
          <p:cNvPr id="45" name="Text 43"/>
          <p:cNvSpPr/>
          <p:nvPr/>
        </p:nvSpPr>
        <p:spPr>
          <a:xfrm>
            <a:off x="9491472" y="3968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extracted from response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290304" y="4965192"/>
            <a:ext cx="91440" cy="91440"/>
          </a:xfrm>
          <a:prstGeom prst="ellipse">
            <a:avLst/>
          </a:prstGeom>
          <a:solidFill>
            <a:srgbClr val="D6A54C"/>
          </a:solidFill>
          <a:ln/>
        </p:spPr>
      </p:sp>
      <p:sp>
        <p:nvSpPr>
          <p:cNvPr id="47" name="Text 45"/>
          <p:cNvSpPr/>
          <p:nvPr/>
        </p:nvSpPr>
        <p:spPr>
          <a:xfrm>
            <a:off x="9491472" y="480974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/ English language detection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2331720"/>
          </a:xfrm>
          <a:prstGeom prst="roundRect">
            <a:avLst>
              <a:gd name="adj" fmla="val 3137"/>
            </a:avLst>
          </a:prstGeom>
          <a:solidFill>
            <a:srgbClr val="23123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A3F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System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chunk tagged [1], [2], [3]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31927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references sources directly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66674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 + relevance score shown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88536" y="1691640"/>
            <a:ext cx="3538728" cy="2331720"/>
          </a:xfrm>
          <a:prstGeom prst="roundRect">
            <a:avLst>
              <a:gd name="adj" fmla="val 3137"/>
            </a:avLst>
          </a:prstGeom>
          <a:solidFill>
            <a:srgbClr val="2312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17136" y="1920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7FC7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17136" y="253288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17136" y="297180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PDF, DOCX, TXT, HTML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17136" y="331927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chunking &amp; embedding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17136" y="366674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Added to knowledge base instantly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28432" y="1691640"/>
            <a:ext cx="3538728" cy="2331720"/>
          </a:xfrm>
          <a:prstGeom prst="roundRect">
            <a:avLst>
              <a:gd name="adj" fmla="val 3137"/>
            </a:avLst>
          </a:prstGeom>
          <a:solidFill>
            <a:srgbClr val="231235"/>
          </a:solidFill>
          <a:ln/>
        </p:spPr>
      </p:sp>
      <p:sp>
        <p:nvSpPr>
          <p:cNvPr id="19" name="Shape 17"/>
          <p:cNvSpPr/>
          <p:nvPr/>
        </p:nvSpPr>
        <p:spPr>
          <a:xfrm>
            <a:off x="8257032" y="1920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6A54C"/>
          </a:solidFill>
          <a:ln/>
        </p:spPr>
      </p:sp>
      <p:sp>
        <p:nvSpPr>
          <p:cNvPr id="20" name="Text 18"/>
          <p:cNvSpPr/>
          <p:nvPr/>
        </p:nvSpPr>
        <p:spPr>
          <a:xfrm>
            <a:off x="825703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57032" y="253288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Support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57032" y="297180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Arabic queries → Arabic answers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57032" y="331927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English queries → English answers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57032" y="366674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Egyptian dialect handled natively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D6A5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434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QUERY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736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يمكنني دفع الفاتورة؟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8680" y="5257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retrieved from an uploaded document (sample.txt), with the source correctly cited.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548640"/>
          </a:xfrm>
          <a:prstGeom prst="roundRect">
            <a:avLst>
              <a:gd name="adj" fmla="val 8333"/>
            </a:avLst>
          </a:prstGeom>
          <a:solidFill>
            <a:srgbClr val="23123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52715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68796" y="1783080"/>
            <a:ext cx="4997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9167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5271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embeddings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68796" y="2331720"/>
            <a:ext cx="499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multilingual model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91672" cy="658368"/>
          </a:xfrm>
          <a:prstGeom prst="rect">
            <a:avLst/>
          </a:prstGeom>
          <a:solidFill>
            <a:srgbClr val="E7DDF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90088"/>
            <a:ext cx="5271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68796" y="2990088"/>
            <a:ext cx="499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 + extraction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1109167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48456"/>
            <a:ext cx="5271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formats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68796" y="3648456"/>
            <a:ext cx="499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loaders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11091672" cy="658368"/>
          </a:xfrm>
          <a:prstGeom prst="rect">
            <a:avLst/>
          </a:prstGeom>
          <a:solidFill>
            <a:srgbClr val="E7DD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06824"/>
            <a:ext cx="5271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dialect handling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68796" y="4306824"/>
            <a:ext cx="499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prompt engineering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965192"/>
            <a:ext cx="1109167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65192"/>
            <a:ext cx="5271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performance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68796" y="4965192"/>
            <a:ext cx="499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with cosine similarity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solidFill>
            <a:srgbClr val="E7DDF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623560"/>
            <a:ext cx="5271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reliability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68796" y="5623560"/>
            <a:ext cx="499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with fallback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4476" y="1783080"/>
            <a:ext cx="0" cy="4498848"/>
          </a:xfrm>
          <a:prstGeom prst="line">
            <a:avLst/>
          </a:prstGeom>
          <a:noFill/>
          <a:ln w="19050">
            <a:solidFill>
              <a:srgbClr val="F9F6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RELEVANCE SCORES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11680"/>
          <a:ext cx="57607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SUPPORT &amp; ACCURACY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83680" y="2103120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022592" y="2075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queries supported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0" y="2523744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22592" y="2496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queries supported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83680" y="2944368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22592" y="2916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dialect supported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0" y="3364992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022592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Mixed-language queries supported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0" y="3785616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22592" y="3758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sources identified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583680" y="4206240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022592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scores displayed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583680" y="4626864"/>
            <a:ext cx="310896" cy="310896"/>
          </a:xfrm>
          <a:prstGeom prst="ellipse">
            <a:avLst/>
          </a:prstGeom>
          <a:solidFill>
            <a:srgbClr val="9B7FC7"/>
          </a:solidFill>
          <a:ln/>
        </p:spPr>
      </p:sp>
      <p:sp>
        <p:nvSpPr>
          <p:cNvPr id="26" name="Text 23"/>
          <p:cNvSpPr/>
          <p:nvPr/>
        </p:nvSpPr>
        <p:spPr>
          <a:xfrm>
            <a:off x="6583680" y="4626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022592" y="4599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previews shown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· Local vector database · Offline-capable · Persistent storage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6A3F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990088" y="1965960"/>
            <a:ext cx="28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1840" y="196596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6A3FA0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965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733288" y="1965960"/>
            <a:ext cx="28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35040" y="196596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6A3FA0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965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76488" y="1965960"/>
            <a:ext cx="28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78240" y="196596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D6A54C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1965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Container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331C4D"/>
          </a:solidFill>
          <a:ln w="12700">
            <a:solidFill>
              <a:srgbClr val="9B7F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29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OPENROUTER_API_KEY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3068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HF_TOKEN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51755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model downloads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5352" y="320040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331C4D"/>
          </a:solidFill>
          <a:ln w="12700">
            <a:solidFill>
              <a:srgbClr val="9B7F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429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19672" y="3977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./chroma_db/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42702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9672" y="4663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./embeddings.json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19672" y="49560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19672" y="5349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./data/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9672" y="56418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STATUS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577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874520"/>
            <a:ext cx="292608" cy="292608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7373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5577840" cy="566928"/>
          </a:xfrm>
          <a:prstGeom prst="rect">
            <a:avLst/>
          </a:prstGeom>
          <a:solidFill>
            <a:srgbClr val="E7DDF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04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Notebook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2441448"/>
            <a:ext cx="292608" cy="292608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30428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71216"/>
            <a:ext cx="5577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712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Documentation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09160" y="3008376"/>
            <a:ext cx="292608" cy="292608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287121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5577840" cy="566928"/>
          </a:xfrm>
          <a:prstGeom prst="rect">
            <a:avLst/>
          </a:prstGeom>
          <a:solidFill>
            <a:srgbClr val="E7DDF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381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Presentation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575304"/>
            <a:ext cx="292608" cy="292608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34381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005072"/>
            <a:ext cx="5577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0050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Files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709160" y="4142232"/>
            <a:ext cx="292608" cy="292608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40050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46520" y="1371600"/>
            <a:ext cx="5193792" cy="4892040"/>
          </a:xfrm>
          <a:prstGeom prst="roundRect">
            <a:avLst>
              <a:gd name="adj" fmla="val 1495"/>
            </a:avLst>
          </a:prstGeom>
          <a:solidFill>
            <a:srgbClr val="231235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SUBMITTED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720840" y="19933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22402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24917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rag.py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20840" y="27386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 with citations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20840" y="29900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document_processor.py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32369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20840" y="34884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citation_utils.py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0840" y="37353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formatting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20840" y="3986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RAG_Implementation.ipynb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423367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20840" y="44851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20840" y="47320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20840" y="49834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/ docker-compose.yml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20840" y="52303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20840" y="54818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20840" y="572871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6A3FA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9B7FC7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A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2011680" cy="0"/>
          </a:xfrm>
          <a:prstGeom prst="line">
            <a:avLst/>
          </a:prstGeom>
          <a:noFill/>
          <a:ln w="25400">
            <a:solidFill>
              <a:srgbClr val="9B7F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email]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B7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salmaahmed-07/RAD_System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2026-08-29T12:54:56Z</dcterms:created>
  <dcterms:modified xsi:type="dcterms:W3CDTF">2026-08-29T12:54:56Z</dcterms:modified>
</cp:coreProperties>
</file>